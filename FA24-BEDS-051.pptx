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Earnings and age in urban Sindh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D8DC"/>
                </a:solidFill>
              </a:rPr>
              <a:t>ECO346 Assignment 1  ·  FA24-BEDS-051  ·  Section 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3931920"/>
            <a:ext cx="3291840" cy="1554480"/>
          </a:xfrm>
          <a:prstGeom prst="roundRect">
            <a:avLst>
              <a:gd name="adj" fmla="val 5882"/>
            </a:avLst>
          </a:prstGeom>
          <a:solidFill>
            <a:srgbClr val="2E3D49"/>
          </a:solidFill>
          <a:ln w="12700">
            <a:solidFill>
              <a:srgbClr val="2E3D4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41148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8A75"/>
                </a:solidFill>
              </a:rPr>
              <a:t>Variant 3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754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51 = 6 × 8 + 3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43400" y="3931920"/>
            <a:ext cx="3291840" cy="1554480"/>
          </a:xfrm>
          <a:prstGeom prst="roundRect">
            <a:avLst>
              <a:gd name="adj" fmla="val 5882"/>
            </a:avLst>
          </a:prstGeom>
          <a:solidFill>
            <a:srgbClr val="2E3D49"/>
          </a:solidFill>
          <a:ln w="12700">
            <a:solidFill>
              <a:srgbClr val="2E3D4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41148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8A75"/>
                </a:solidFill>
              </a:rPr>
              <a:t>Sindh urban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4754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prov 3, area 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955280" y="3931920"/>
            <a:ext cx="3291840" cy="1554480"/>
          </a:xfrm>
          <a:prstGeom prst="roundRect">
            <a:avLst>
              <a:gd name="adj" fmla="val 5882"/>
            </a:avLst>
          </a:prstGeom>
          <a:solidFill>
            <a:srgbClr val="2E3D49"/>
          </a:solidFill>
          <a:ln w="12700">
            <a:solidFill>
              <a:srgbClr val="2E3D4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0" y="41148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8A75"/>
                </a:solidFill>
              </a:rPr>
              <a:t>2,644 earners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8138160" y="4754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ages 15–64, earnings &gt; 0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0"/>
                </a:solidFill>
              </a:rPr>
              <a:t>Source: PSLM 2019–20. All statistics weighted by hhweight.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Half earn under Rs 264,000; the top tenth over Rs 696,000</a:t>
            </a:r>
            <a:endParaRPr lang="en-US" sz="3000" dirty="0"/>
          </a:p>
        </p:txBody>
      </p:sp>
      <p:pic>
        <p:nvPicPr>
          <p:cNvPr id="3" name="Image 0" descr="/tmp/img/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7863840" cy="480974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778240" y="14630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0392B"/>
                </a:solidFill>
              </a:rPr>
              <a:t>Rs 264,000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8778240" y="21488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</a:rPr>
              <a:t>weighted median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778240" y="29718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0392B"/>
                </a:solidFill>
              </a:rPr>
              <a:t>Rs 252,000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8778240" y="3657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</a:rPr>
              <a:t>unweighted median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778240" y="44805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0392B"/>
                </a:solidFill>
              </a:rPr>
              <a:t>5.80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8778240" y="5166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</a:rPr>
              <a:t>P90 / P10 ratio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makeover: from R defaults to a readable age profile</a:t>
            </a:r>
            <a:endParaRPr lang="en-US" sz="3000" dirty="0"/>
          </a:p>
        </p:txBody>
      </p:sp>
      <p:pic>
        <p:nvPicPr>
          <p:cNvPr id="3" name="Image 0" descr="/tmp/img/defa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4754880" cy="3392424"/>
          </a:xfrm>
          <a:prstGeom prst="rect">
            <a:avLst/>
          </a:prstGeom>
        </p:spPr>
      </p:pic>
      <p:pic>
        <p:nvPicPr>
          <p:cNvPr id="4" name="Image 1" descr="/tmp/img/relationsh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325880"/>
            <a:ext cx="5897880" cy="3931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1097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6666"/>
                </a:solidFill>
              </a:rPr>
              <a:t>Before: default</a:t>
            </a:r>
            <a:endParaRPr lang="en-US" sz="1600" dirty="0"/>
          </a:p>
        </p:txBody>
      </p:sp>
      <p:sp>
        <p:nvSpPr>
          <p:cNvPr id="6" name="Text 2"/>
          <p:cNvSpPr txBox="1"/>
          <p:nvPr/>
        </p:nvSpPr>
        <p:spPr>
          <a:xfrm>
            <a:off x="5760720" y="960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</a:rPr>
              <a:t>After: redesign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</a:rPr>
              <a:t>Log scale</a:t>
            </a:r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</a:rPr>
              <a:t> spreads the squashed mass  ·  </a:t>
            </a:r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</a:rPr>
              <a:t>Jitter + alpha 0.15</a:t>
            </a:r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</a:rPr>
              <a:t> fix overplotting  ·  </a:t>
            </a:r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</a:rPr>
              <a:t>Weighted band means</a:t>
            </a:r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</a:rPr>
              <a:t> show the profile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finding: earnings almost triple from the teens to the late 50s</a:t>
            </a:r>
            <a:endParaRPr lang="en-US" sz="3000" dirty="0"/>
          </a:p>
        </p:txBody>
      </p:sp>
      <p:pic>
        <p:nvPicPr>
          <p:cNvPr id="3" name="Image 0" descr="/tmp/img/relations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7223760" cy="48188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0" y="13716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</a:rPr>
              <a:t>Rs 192,523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8229600" y="2011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</a:rPr>
              <a:t>ages 15–19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27432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</a:rPr>
              <a:t>Rs 303,154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3383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</a:rPr>
              <a:t>ages 25–29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41148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</a:rPr>
              <a:t>Rs 542,400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4754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</a:rPr>
              <a:t>ages 55–59 (peak)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229600" y="53949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</a:rPr>
              <a:t>Cross-section only: each band is a different cohort, so this is not one worker’s career path.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2026-10-26T12:42:56Z</dcterms:created>
  <dcterms:modified xsi:type="dcterms:W3CDTF">2026-10-26T12:42:56Z</dcterms:modified>
</cp:coreProperties>
</file>